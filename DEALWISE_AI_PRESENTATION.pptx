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5200" b="1">
                <a:solidFill>
                  <a:srgbClr val="FFFFFF"/>
                </a:solidFill>
              </a:defRPr>
            </a:pPr>
            <a:r>
              <a:t>DEALWISE AI</a:t>
            </a:r>
          </a:p>
          <a:p>
            <a:pPr>
              <a:spcAft>
                <a:spcPts val="1800"/>
              </a:spcAft>
              <a:defRPr sz="2400">
                <a:solidFill>
                  <a:srgbClr val="A1A1AA"/>
                </a:solidFill>
              </a:defRPr>
            </a:pPr>
            <a:r>
              <a:t>Know the deal before you buy.</a:t>
            </a:r>
          </a:p>
          <a:p>
            <a:pPr>
              <a:defRPr sz="1400">
                <a:solidFill>
                  <a:srgbClr val="D4D4D8"/>
                </a:solidFill>
              </a:defRPr>
            </a:pPr>
            <a:r>
              <a:t>AI-Powered Real Estate Deal Analyzer &amp; Investment Intelligence Platform</a:t>
            </a:r>
            <a:br/>
            <a:r>
              <a:t>Live Web App: https://dealwise-ai.vercel.app/</a:t>
            </a:r>
            <a:br/>
            <a:r>
              <a:t>Author: Panchaksharayya | October 2026</a:t>
            </a:r>
            <a:br/>
            <a:r>
              <a:t>Repository: https://github.com/panchaksharayya12/DealwiseAi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A1AA"/>
                </a:solidFill>
              </a:defRPr>
            </a:pPr>
            <a:r>
              <a:t>01. 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Real Estate Buyers Make Costly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219456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The Price vs. Value Distortion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Buyers evaluate properties solely by location and gross asking price.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Fails to analyze net capitalization yields, operating overhead, and actual returns.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Multi-crore decisions made with emotional bias rather than financial diligence.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219456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Negative Monthly Carry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High LTV financing paired with society maintenance causes cashflow deficits.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Monthly EMI and maintenance frequently exceed rental income.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Forces owners to fund recurring shortfalls from active income.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219456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AI Financial Hallucinations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Generic LLMs fabricate loan amortization schedules and compound interest.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Math is often invented, producing dangerously erroneous investment guidance.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Mathematical modeling must be 100% deterministic.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114800"/>
            <a:ext cx="5120640" cy="219456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Broker-Biased Platforms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Traditional property portals earn brokerage and listing fees.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Their UX is optimized to sell properties, not protect buyers from bad investments.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Zero objective risk diagnostics or comparative stress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A1AA"/>
                </a:solidFill>
              </a:defRPr>
            </a:pPr>
            <a:r>
              <a:t>02. THE DEALWISE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Objective Quantitative Property Diligence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Deterministic Math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100% verifiable TypeScript routines.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Price per sq.ft, rental yields, monthly EMI, and total interest calculated with actuarial accuracy.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Zero financial hallucination.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Transparent equations accessible to the user.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5-Pillar Deal Score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Weighted score from 0 to 100.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Evaluates Financial Health (35%), Yield (20%), Price (20%), Debt (15%), and Risk (10%).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Clear classifications: Strong Deal, Fair Deal, Needs Review, Risky Deal.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Actionable diagnostic rationale.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2918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Contextual AI &amp; Reports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AI strictly deployed for qualitative synthesis and seller negotiation strategies.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Context-aware interactive Q&amp;A assistant.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Dynamic 5-year growth simulations.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One-click executive-grade PDF due diligence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A1AA"/>
                </a:solidFill>
              </a:defRPr>
            </a:pPr>
            <a:r>
              <a:t>03. FINANCIAL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&amp; Actuarial Precision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Yield &amp; Valuation Equations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Price / sq.ft = Asking Price / Built-up Area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Annual Rent = Expected Monthly Rent * 12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Gross Rental Yield (%) = (Annual Rent / Asking Price) * 100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Annual Maintenance = Monthly Maintenance * 12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Net Rental Income = Annual Rent - Annual Maintenance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Net Rental Yield (%) = (Net Rental Income / Asking Price) * 100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Cash-on-Cash ROI (%) = (Annual Net Cashflow / Down Payment) * 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Debt Amortization &amp; Carry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Loan Amount = max(0, Asking Price - Down Payment)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Standard Reducing Balance EMI Formula: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  EMI = P * r * (1+r)^n / ((1+r)^n - 1)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  P = Loan Amount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  r = Annual Interest Rate / (12 * 100)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  n = Loan Tenure (years) * 12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Total Interest = (EMI * n) - Loan Amount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Monthly Cashflow Carry = Rent - Maintenance - Monthly EMI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Loan-to-Value (LTV) Ratio = (Loan Amount / Asking Price) *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A1AA"/>
                </a:solidFill>
              </a:defRPr>
            </a:pPr>
            <a:r>
              <a:t>04. SCORING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Transparent Weighted Deal Score (0–100)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Score Composition Weights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Financial Health (35%): Net rental yield vs. cost of capital and monthly cashflow carry.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Rental Yield Power (20%): Gross rental yield benchmarked against metro averages (&gt;5.5% top tier).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Price Efficiency (20%): Price per sq.ft affordability and space yield sanity.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Loan &amp; Debt Burden (15%): Loan-to-Value (LTV) exposure and monthly debt service coverage.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Risk Buffer (10%): Asset age depreciation, maintenance drag ratio, and dedicated parking.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Diagnostic Tiers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80 – 100: Strong Deal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  Solid fundamentals, high yields, sustainable debt, positive cashflow.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60 – 79: Fair Deal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  Viable opportunity; minor price negotiation or higher down payment advised.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40 – 59: Needs Review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  Friction detected: yield compression or excessive monthly debt burden.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0 – 39: Risky Deal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  High leverage danger, severe monthly deficit, or inflated asking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A1AA"/>
                </a:solidFill>
              </a:defRPr>
            </a:pPr>
            <a:r>
              <a:t>05. RISK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Automated Diagnostics &amp; Buyer Due Diligence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Automated Risk Flags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High LTV Leverage (&gt;75% LTV): Heightened debt vulnerability and interest expense.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Monthly Cashflow Deficit: Highlights when EMI + Maintenance exceeds monthly rent.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Yield Compression (&lt;2.5%): Identifies speculative deals reliant solely on future appreciation.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Maintenance Drag (&gt;18% of rent): Warns of recurring operational erosion.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Construction Age (&gt;15 yrs): Flags upcoming structural and society sinking fund liabilities.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8-Point Due Diligence Checklist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1. 30-year unbroken chain title deeds &amp; ownership documents.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2. RERA project registration, sanction plans &amp; CC/OC certificates.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3. Encumbrance Certificate (EC) verifying absence of legal mortgages.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4. Registered sale deeds of 500m comparable properties.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5. Society sinking fund health &amp; upcoming capital repair assessments.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6. Local broker validation of realistic prevailing market rents.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7. Property tax paid receipts and utility clearance certificates.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8. Bank APF mortgage pre-approval from leading institutions.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A1AA"/>
                </a:solidFill>
              </a:defRPr>
            </a:pPr>
            <a:r>
              <a:t>06. INTERACTIVE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Projections &amp; Multi-Property Benchmarking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5-Year Growth Projections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Dynamic Recharts SVG Area Graph modeling holding horizon.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Interactive Appreciation Slider: Adjust scenario from 0% to 12% annually.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Models asset appreciation compounded with conservative 4% annual rental step-ups.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Plots combined capital gains alongside accumulated cash distributions.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Statutory regulatory labeling: Illustrative estimate, non-guaranteed.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Multi-Property Benchmarking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Side-by-side evaluation of 2 or more candidate properties.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Automated category winners: Best Yield, Lowest Price/sq.ft, Best Cashflow, Top Score.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Preloaded presets: Bengaluru 2 BHK, Hyderabad 3 BHK, Goa 4 BHK Villa.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Dynamic "DealWise Recommended Deal" banner highlighting optimal risk-adjusted return.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A1AA"/>
                </a:solidFill>
              </a:defRPr>
            </a:pPr>
            <a:r>
              <a:t>07.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Production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Frontend Client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React 18 &amp; TypeScript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Vite Build Tooling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Tailwind CSS &amp; Liquid Glass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Recharts SVG Analytics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Lucide React Iconography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jsPDF Vector Report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Backend REST API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Node.js &amp; Express (TypeScript)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Deterministic Valuation Services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OpenAI GPT-4o-mini Orchestration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Automatic Local Fallback Engine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Universal 0.0.0.0 Host Binding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Robust Error &amp; Exception Guards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291840" cy="457200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Persistence &amp; Cloud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Supabase PostgreSQL Integration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Offline Browser localStorage Sync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Zero-Config Local Development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Production-ready Docker / Cloud Deployable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1A1AA"/>
                </a:solidFill>
              </a:defRPr>
            </a:pPr>
            <a:r>
              <a:t>08.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DealWise AI — Deliverables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645920"/>
            <a:ext cx="8869680" cy="4389120"/>
          </a:xfrm>
          <a:prstGeom prst="rect">
            <a:avLst/>
          </a:prstGeom>
          <a:solidFill>
            <a:srgbClr val="18181E"/>
          </a:solidFill>
          <a:ln w="1270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Key Takeaways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Production-Grade Platform: 100% functional, responsive, and rigorously verified.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Mathematical Rigor: Zero AI hallucination on financial calculations; full transparency.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Premium VEX Visuals: Liquid glass styling, cinematic hero video, and zero gradients.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Comprehensive Deliverables: Full-stack codebase, Word Document Report, PowerPoint Deck, and Live App.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Live Deployed Web Application: https://dealwise-ai.vercel.app/</a:t>
            </a:r>
          </a:p>
          <a:p>
            <a:pPr>
              <a:spcAft>
                <a:spcPts val="600"/>
              </a:spcAft>
              <a:defRPr sz="1200">
                <a:solidFill>
                  <a:srgbClr val="D4D4D8"/>
                </a:solidFill>
              </a:defRPr>
            </a:pPr>
            <a:r>
              <a:t>• GitHub Repository: https://github.com/panchaksharayya12/DealwiseAi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